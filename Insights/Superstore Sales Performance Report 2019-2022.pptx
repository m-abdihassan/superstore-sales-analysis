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7" d="100"/>
          <a:sy n="87" d="100"/>
        </p:scale>
        <p:origin x="66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043670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7.png"/><Relationship Id="rId3" Type="http://schemas.openxmlformats.org/officeDocument/2006/relationships/image" Target="../media/image6.png"/><Relationship Id="rId7" Type="http://schemas.openxmlformats.org/officeDocument/2006/relationships/image" Target="../media/image11.png"/><Relationship Id="rId12" Type="http://schemas.openxmlformats.org/officeDocument/2006/relationships/image" Target="../media/image1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image" Target="../media/image27.png"/><Relationship Id="rId18" Type="http://schemas.openxmlformats.org/officeDocument/2006/relationships/image" Target="../media/image32.png"/><Relationship Id="rId26" Type="http://schemas.openxmlformats.org/officeDocument/2006/relationships/image" Target="../media/image40.png"/><Relationship Id="rId3" Type="http://schemas.openxmlformats.org/officeDocument/2006/relationships/image" Target="../media/image6.png"/><Relationship Id="rId21" Type="http://schemas.openxmlformats.org/officeDocument/2006/relationships/image" Target="../media/image35.png"/><Relationship Id="rId7" Type="http://schemas.openxmlformats.org/officeDocument/2006/relationships/image" Target="../media/image21.png"/><Relationship Id="rId12" Type="http://schemas.openxmlformats.org/officeDocument/2006/relationships/image" Target="../media/image26.png"/><Relationship Id="rId17" Type="http://schemas.openxmlformats.org/officeDocument/2006/relationships/image" Target="../media/image31.png"/><Relationship Id="rId25" Type="http://schemas.openxmlformats.org/officeDocument/2006/relationships/image" Target="../media/image39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30.png"/><Relationship Id="rId20" Type="http://schemas.openxmlformats.org/officeDocument/2006/relationships/image" Target="../media/image3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11" Type="http://schemas.openxmlformats.org/officeDocument/2006/relationships/image" Target="../media/image25.png"/><Relationship Id="rId24" Type="http://schemas.openxmlformats.org/officeDocument/2006/relationships/image" Target="../media/image38.png"/><Relationship Id="rId5" Type="http://schemas.openxmlformats.org/officeDocument/2006/relationships/image" Target="../media/image19.png"/><Relationship Id="rId15" Type="http://schemas.openxmlformats.org/officeDocument/2006/relationships/image" Target="../media/image29.png"/><Relationship Id="rId23" Type="http://schemas.openxmlformats.org/officeDocument/2006/relationships/image" Target="../media/image37.png"/><Relationship Id="rId10" Type="http://schemas.openxmlformats.org/officeDocument/2006/relationships/image" Target="../media/image24.png"/><Relationship Id="rId19" Type="http://schemas.openxmlformats.org/officeDocument/2006/relationships/image" Target="../media/image33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Relationship Id="rId14" Type="http://schemas.openxmlformats.org/officeDocument/2006/relationships/image" Target="../media/image28.png"/><Relationship Id="rId22" Type="http://schemas.openxmlformats.org/officeDocument/2006/relationships/image" Target="../media/image36.png"/><Relationship Id="rId27" Type="http://schemas.openxmlformats.org/officeDocument/2006/relationships/image" Target="../media/image4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3" Type="http://schemas.openxmlformats.org/officeDocument/2006/relationships/image" Target="../media/image6.png"/><Relationship Id="rId7" Type="http://schemas.openxmlformats.org/officeDocument/2006/relationships/image" Target="../media/image4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Relationship Id="rId9" Type="http://schemas.openxmlformats.org/officeDocument/2006/relationships/image" Target="../media/image4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3" Type="http://schemas.openxmlformats.org/officeDocument/2006/relationships/image" Target="../media/image6.png"/><Relationship Id="rId7" Type="http://schemas.openxmlformats.org/officeDocument/2006/relationships/image" Target="../media/image5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Relationship Id="rId9" Type="http://schemas.openxmlformats.org/officeDocument/2006/relationships/image" Target="../media/image5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png"/><Relationship Id="rId3" Type="http://schemas.openxmlformats.org/officeDocument/2006/relationships/image" Target="../media/image6.png"/><Relationship Id="rId7" Type="http://schemas.openxmlformats.org/officeDocument/2006/relationships/image" Target="../media/image5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6.png"/><Relationship Id="rId5" Type="http://schemas.openxmlformats.org/officeDocument/2006/relationships/image" Target="../media/image55.png"/><Relationship Id="rId4" Type="http://schemas.openxmlformats.org/officeDocument/2006/relationships/image" Target="../media/image54.png"/><Relationship Id="rId9" Type="http://schemas.openxmlformats.org/officeDocument/2006/relationships/image" Target="../media/image59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png"/><Relationship Id="rId3" Type="http://schemas.openxmlformats.org/officeDocument/2006/relationships/image" Target="../media/image6.png"/><Relationship Id="rId7" Type="http://schemas.openxmlformats.org/officeDocument/2006/relationships/image" Target="../media/image6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2.png"/><Relationship Id="rId5" Type="http://schemas.openxmlformats.org/officeDocument/2006/relationships/image" Target="../media/image61.png"/><Relationship Id="rId4" Type="http://schemas.openxmlformats.org/officeDocument/2006/relationships/image" Target="../media/image60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png"/><Relationship Id="rId13" Type="http://schemas.openxmlformats.org/officeDocument/2006/relationships/image" Target="../media/image73.png"/><Relationship Id="rId3" Type="http://schemas.openxmlformats.org/officeDocument/2006/relationships/image" Target="../media/image6.png"/><Relationship Id="rId7" Type="http://schemas.openxmlformats.org/officeDocument/2006/relationships/image" Target="../media/image67.png"/><Relationship Id="rId12" Type="http://schemas.openxmlformats.org/officeDocument/2006/relationships/image" Target="../media/image7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6.png"/><Relationship Id="rId11" Type="http://schemas.openxmlformats.org/officeDocument/2006/relationships/image" Target="../media/image71.png"/><Relationship Id="rId5" Type="http://schemas.openxmlformats.org/officeDocument/2006/relationships/image" Target="../media/image65.png"/><Relationship Id="rId10" Type="http://schemas.openxmlformats.org/officeDocument/2006/relationships/image" Target="../media/image70.png"/><Relationship Id="rId4" Type="http://schemas.openxmlformats.org/officeDocument/2006/relationships/image" Target="../media/image48.png"/><Relationship Id="rId9" Type="http://schemas.openxmlformats.org/officeDocument/2006/relationships/image" Target="../media/image69.png"/><Relationship Id="rId14" Type="http://schemas.openxmlformats.org/officeDocument/2006/relationships/image" Target="../media/image74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8.png"/><Relationship Id="rId3" Type="http://schemas.openxmlformats.org/officeDocument/2006/relationships/image" Target="../media/image6.png"/><Relationship Id="rId7" Type="http://schemas.openxmlformats.org/officeDocument/2006/relationships/image" Target="../media/image7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6.png"/><Relationship Id="rId5" Type="http://schemas.openxmlformats.org/officeDocument/2006/relationships/image" Target="../media/image76.png"/><Relationship Id="rId4" Type="http://schemas.openxmlformats.org/officeDocument/2006/relationships/image" Target="../media/image75.png"/><Relationship Id="rId9" Type="http://schemas.openxmlformats.org/officeDocument/2006/relationships/image" Target="../media/image7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2.png"/><Relationship Id="rId5" Type="http://schemas.openxmlformats.org/officeDocument/2006/relationships/image" Target="../media/image81.png"/><Relationship Id="rId4" Type="http://schemas.openxmlformats.org/officeDocument/2006/relationships/image" Target="../media/image8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900000">
            <a:off x="7219950" y="933450"/>
            <a:ext cx="4972050" cy="592455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19225" y="4086225"/>
            <a:ext cx="5257800" cy="1009650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762000" y="1728788"/>
            <a:ext cx="73342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Sales Performance Report</a:t>
            </a:r>
            <a:endParaRPr lang="en-US" sz="2200" dirty="0"/>
          </a:p>
        </p:txBody>
      </p:sp>
      <p:sp>
        <p:nvSpPr>
          <p:cNvPr id="7" name="Text 1"/>
          <p:cNvSpPr/>
          <p:nvPr/>
        </p:nvSpPr>
        <p:spPr>
          <a:xfrm>
            <a:off x="762000" y="2338388"/>
            <a:ext cx="7334250" cy="2143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4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Superstore
2019–2022</a:t>
            </a:r>
            <a:endParaRPr lang="en-US" sz="6400" dirty="0"/>
          </a:p>
        </p:txBody>
      </p:sp>
      <p:sp>
        <p:nvSpPr>
          <p:cNvPr id="8" name="Text 2"/>
          <p:cNvSpPr/>
          <p:nvPr/>
        </p:nvSpPr>
        <p:spPr>
          <a:xfrm>
            <a:off x="762000" y="4748213"/>
            <a:ext cx="10668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Built with:</a:t>
            </a:r>
            <a:endParaRPr lang="en-US" sz="1700" dirty="0"/>
          </a:p>
        </p:txBody>
      </p:sp>
      <p:pic>
        <p:nvPicPr>
          <p:cNvPr id="9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33575" y="4695825"/>
            <a:ext cx="1238250" cy="447675"/>
          </a:xfrm>
          <a:prstGeom prst="rect">
            <a:avLst/>
          </a:prstGeom>
        </p:spPr>
      </p:pic>
      <p:sp>
        <p:nvSpPr>
          <p:cNvPr id="10" name="Text 3"/>
          <p:cNvSpPr/>
          <p:nvPr/>
        </p:nvSpPr>
        <p:spPr>
          <a:xfrm>
            <a:off x="2057400" y="4748213"/>
            <a:ext cx="990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C2F693"/>
                </a:solidFill>
                <a:highlight>
                  <a:srgbClr val="000000"/>
                </a:highlight>
                <a:latin typeface="Segoe UI" pitchFamily="34" charset="0"/>
                <a:ea typeface="Segoe UI" pitchFamily="34" charset="-122"/>
                <a:cs typeface="Segoe UI" pitchFamily="34" charset="-120"/>
              </a:rPr>
              <a:t>Power BI</a:t>
            </a:r>
            <a:endParaRPr lang="en-US" sz="1700" dirty="0"/>
          </a:p>
        </p:txBody>
      </p:sp>
      <p:pic>
        <p:nvPicPr>
          <p:cNvPr id="11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34575" y="561975"/>
            <a:ext cx="1504950" cy="447675"/>
          </a:xfrm>
          <a:prstGeom prst="rect">
            <a:avLst/>
          </a:prstGeom>
        </p:spPr>
      </p:pic>
      <p:sp>
        <p:nvSpPr>
          <p:cNvPr id="14" name="Text 5"/>
          <p:cNvSpPr/>
          <p:nvPr/>
        </p:nvSpPr>
        <p:spPr>
          <a:xfrm>
            <a:off x="10220325" y="657225"/>
            <a:ext cx="93345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2019–2022</a:t>
            </a:r>
            <a:endParaRPr lang="en-US" sz="1200" dirty="0"/>
          </a:p>
        </p:txBody>
      </p:sp>
      <p:sp>
        <p:nvSpPr>
          <p:cNvPr id="15" name="Text 6"/>
          <p:cNvSpPr/>
          <p:nvPr/>
        </p:nvSpPr>
        <p:spPr>
          <a:xfrm>
            <a:off x="762000" y="6019800"/>
            <a:ext cx="419963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analytics Team — By Mohamed Abdi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499999">
            <a:off x="8448675" y="2066925"/>
            <a:ext cx="1866900" cy="180975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762000" y="762000"/>
            <a:ext cx="10668000" cy="876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7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Contents</a:t>
            </a:r>
            <a:endParaRPr lang="en-US" sz="5700" dirty="0"/>
          </a:p>
        </p:txBody>
      </p:sp>
      <p:sp>
        <p:nvSpPr>
          <p:cNvPr id="6" name="Text 1"/>
          <p:cNvSpPr/>
          <p:nvPr/>
        </p:nvSpPr>
        <p:spPr>
          <a:xfrm>
            <a:off x="1724025" y="2907506"/>
            <a:ext cx="571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500" b="1" dirty="0">
                <a:solidFill>
                  <a:srgbClr val="C2F69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3500" dirty="0"/>
          </a:p>
        </p:txBody>
      </p:sp>
      <p:sp>
        <p:nvSpPr>
          <p:cNvPr id="7" name="Text 2"/>
          <p:cNvSpPr/>
          <p:nvPr/>
        </p:nvSpPr>
        <p:spPr>
          <a:xfrm>
            <a:off x="1338263" y="3536156"/>
            <a:ext cx="1343025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D37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Quick Summary</a:t>
            </a:r>
            <a:endParaRPr lang="en-US" sz="1200" dirty="0"/>
          </a:p>
        </p:txBody>
      </p:sp>
      <p:sp>
        <p:nvSpPr>
          <p:cNvPr id="8" name="Text 3"/>
          <p:cNvSpPr/>
          <p:nvPr/>
        </p:nvSpPr>
        <p:spPr>
          <a:xfrm>
            <a:off x="4395788" y="2907506"/>
            <a:ext cx="676275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500" b="1" dirty="0">
                <a:solidFill>
                  <a:srgbClr val="AFD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3500" dirty="0"/>
          </a:p>
        </p:txBody>
      </p:sp>
      <p:sp>
        <p:nvSpPr>
          <p:cNvPr id="9" name="Text 4"/>
          <p:cNvSpPr/>
          <p:nvPr/>
        </p:nvSpPr>
        <p:spPr>
          <a:xfrm>
            <a:off x="3686175" y="3536156"/>
            <a:ext cx="20955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D37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We Did This (Tools &amp; KPIs)</a:t>
            </a:r>
            <a:endParaRPr lang="en-US" sz="1200" dirty="0"/>
          </a:p>
        </p:txBody>
      </p:sp>
      <p:sp>
        <p:nvSpPr>
          <p:cNvPr id="10" name="Text 5"/>
          <p:cNvSpPr/>
          <p:nvPr/>
        </p:nvSpPr>
        <p:spPr>
          <a:xfrm>
            <a:off x="7115175" y="2907506"/>
            <a:ext cx="6858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500" b="1" dirty="0">
                <a:solidFill>
                  <a:srgbClr val="C2F69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3500" dirty="0"/>
          </a:p>
        </p:txBody>
      </p:sp>
      <p:sp>
        <p:nvSpPr>
          <p:cNvPr id="11" name="Text 6"/>
          <p:cNvSpPr/>
          <p:nvPr/>
        </p:nvSpPr>
        <p:spPr>
          <a:xfrm>
            <a:off x="6410325" y="3536156"/>
            <a:ext cx="2095500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D37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Sales Trend (2019–2022)</a:t>
            </a:r>
            <a:endParaRPr lang="en-US" sz="1200" dirty="0"/>
          </a:p>
        </p:txBody>
      </p:sp>
      <p:sp>
        <p:nvSpPr>
          <p:cNvPr id="12" name="Text 7"/>
          <p:cNvSpPr/>
          <p:nvPr/>
        </p:nvSpPr>
        <p:spPr>
          <a:xfrm>
            <a:off x="9825038" y="2907506"/>
            <a:ext cx="714375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500" b="1" dirty="0">
                <a:solidFill>
                  <a:srgbClr val="AFD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3500" dirty="0"/>
          </a:p>
        </p:txBody>
      </p:sp>
      <p:sp>
        <p:nvSpPr>
          <p:cNvPr id="13" name="Text 8"/>
          <p:cNvSpPr/>
          <p:nvPr/>
        </p:nvSpPr>
        <p:spPr>
          <a:xfrm>
            <a:off x="9448800" y="3536156"/>
            <a:ext cx="1466850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D37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Category Results</a:t>
            </a:r>
            <a:endParaRPr lang="en-US" sz="1200" dirty="0"/>
          </a:p>
        </p:txBody>
      </p:sp>
      <p:sp>
        <p:nvSpPr>
          <p:cNvPr id="14" name="Text 9"/>
          <p:cNvSpPr/>
          <p:nvPr/>
        </p:nvSpPr>
        <p:spPr>
          <a:xfrm>
            <a:off x="1652588" y="4345781"/>
            <a:ext cx="714375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500" b="1" dirty="0">
                <a:solidFill>
                  <a:srgbClr val="C2F69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</a:t>
            </a:r>
            <a:endParaRPr lang="en-US" sz="3500" dirty="0"/>
          </a:p>
        </p:txBody>
      </p:sp>
      <p:sp>
        <p:nvSpPr>
          <p:cNvPr id="15" name="Text 10"/>
          <p:cNvSpPr/>
          <p:nvPr/>
        </p:nvSpPr>
        <p:spPr>
          <a:xfrm>
            <a:off x="1143000" y="4974431"/>
            <a:ext cx="1733550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D37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Region Profit Results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4381500" y="4345781"/>
            <a:ext cx="7048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500" b="1" dirty="0">
                <a:solidFill>
                  <a:srgbClr val="AFD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06</a:t>
            </a:r>
            <a:endParaRPr lang="en-US" sz="3500" dirty="0"/>
          </a:p>
        </p:txBody>
      </p:sp>
      <p:sp>
        <p:nvSpPr>
          <p:cNvPr id="17" name="Text 12"/>
          <p:cNvSpPr/>
          <p:nvPr/>
        </p:nvSpPr>
        <p:spPr>
          <a:xfrm>
            <a:off x="3848100" y="4974431"/>
            <a:ext cx="1771650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D37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Customer Segments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7134225" y="4345781"/>
            <a:ext cx="6477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500" b="1" dirty="0">
                <a:solidFill>
                  <a:srgbClr val="C2F69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07</a:t>
            </a:r>
            <a:endParaRPr lang="en-US" sz="3500" dirty="0"/>
          </a:p>
        </p:txBody>
      </p:sp>
      <p:sp>
        <p:nvSpPr>
          <p:cNvPr id="19" name="Text 14"/>
          <p:cNvSpPr/>
          <p:nvPr/>
        </p:nvSpPr>
        <p:spPr>
          <a:xfrm>
            <a:off x="6796088" y="4974431"/>
            <a:ext cx="1323975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D37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Product Results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9825038" y="4345781"/>
            <a:ext cx="714375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500" b="1" dirty="0">
                <a:solidFill>
                  <a:srgbClr val="AFD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08</a:t>
            </a:r>
            <a:endParaRPr lang="en-US" sz="3500" dirty="0"/>
          </a:p>
        </p:txBody>
      </p:sp>
      <p:sp>
        <p:nvSpPr>
          <p:cNvPr id="21" name="Text 16"/>
          <p:cNvSpPr/>
          <p:nvPr/>
        </p:nvSpPr>
        <p:spPr>
          <a:xfrm>
            <a:off x="9167813" y="4974431"/>
            <a:ext cx="2028825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D37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Points &amp; Conclusion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762000" y="6381750"/>
            <a:ext cx="33051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999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Superstore Sales Performance Report | 2019–2022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11268075" y="6381750"/>
            <a:ext cx="1619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999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-10800000">
            <a:off x="9801225" y="0"/>
            <a:ext cx="2390775" cy="2143125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2475" y="2333625"/>
            <a:ext cx="2581275" cy="1590675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76625" y="2333625"/>
            <a:ext cx="2581275" cy="1590675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00775" y="2333625"/>
            <a:ext cx="2581275" cy="1590675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24925" y="2333625"/>
            <a:ext cx="2581275" cy="1590675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2475" y="4295775"/>
            <a:ext cx="10753725" cy="1800225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66800" y="5200650"/>
            <a:ext cx="476250" cy="47625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14850" y="5200650"/>
            <a:ext cx="476250" cy="47625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62900" y="5200650"/>
            <a:ext cx="476250" cy="476250"/>
          </a:xfrm>
          <a:prstGeom prst="rect">
            <a:avLst/>
          </a:prstGeom>
        </p:spPr>
      </p:pic>
      <p:sp>
        <p:nvSpPr>
          <p:cNvPr id="13" name="Text 0"/>
          <p:cNvSpPr/>
          <p:nvPr/>
        </p:nvSpPr>
        <p:spPr>
          <a:xfrm>
            <a:off x="762000" y="762000"/>
            <a:ext cx="10668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9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Quick Summary</a:t>
            </a:r>
            <a:endParaRPr lang="en-US" sz="3900" dirty="0"/>
          </a:p>
        </p:txBody>
      </p:sp>
      <p:sp>
        <p:nvSpPr>
          <p:cNvPr id="14" name="Text 1"/>
          <p:cNvSpPr/>
          <p:nvPr/>
        </p:nvSpPr>
        <p:spPr>
          <a:xfrm>
            <a:off x="762000" y="1504950"/>
            <a:ext cx="9525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From 2019 to 2022, sales grew each year. Technology sells the most. The West region and Consumer customers bring the most profit.</a:t>
            </a:r>
            <a:endParaRPr lang="en-US" sz="1200" dirty="0"/>
          </a:p>
        </p:txBody>
      </p:sp>
      <p:sp>
        <p:nvSpPr>
          <p:cNvPr id="15" name="Text 2"/>
          <p:cNvSpPr/>
          <p:nvPr/>
        </p:nvSpPr>
        <p:spPr>
          <a:xfrm>
            <a:off x="1266825" y="2657475"/>
            <a:ext cx="14859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9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2.30M</a:t>
            </a:r>
            <a:endParaRPr lang="en-US" sz="3900" dirty="0"/>
          </a:p>
        </p:txBody>
      </p:sp>
      <p:sp>
        <p:nvSpPr>
          <p:cNvPr id="16" name="Text 3"/>
          <p:cNvSpPr/>
          <p:nvPr/>
        </p:nvSpPr>
        <p:spPr>
          <a:xfrm>
            <a:off x="1533525" y="3267075"/>
            <a:ext cx="952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Sales</a:t>
            </a:r>
            <a:endParaRPr lang="en-US" sz="1200" dirty="0"/>
          </a:p>
        </p:txBody>
      </p:sp>
      <p:sp>
        <p:nvSpPr>
          <p:cNvPr id="17" name="Text 4"/>
          <p:cNvSpPr/>
          <p:nvPr/>
        </p:nvSpPr>
        <p:spPr>
          <a:xfrm>
            <a:off x="3890962" y="2657475"/>
            <a:ext cx="1685925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9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286.4K</a:t>
            </a:r>
            <a:endParaRPr lang="en-US" sz="3900" dirty="0"/>
          </a:p>
        </p:txBody>
      </p:sp>
      <p:sp>
        <p:nvSpPr>
          <p:cNvPr id="18" name="Text 5"/>
          <p:cNvSpPr/>
          <p:nvPr/>
        </p:nvSpPr>
        <p:spPr>
          <a:xfrm>
            <a:off x="4252913" y="3267075"/>
            <a:ext cx="9620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Profit</a:t>
            </a:r>
            <a:endParaRPr lang="en-US" sz="1200" dirty="0"/>
          </a:p>
        </p:txBody>
      </p:sp>
      <p:sp>
        <p:nvSpPr>
          <p:cNvPr id="19" name="Text 6"/>
          <p:cNvSpPr/>
          <p:nvPr/>
        </p:nvSpPr>
        <p:spPr>
          <a:xfrm>
            <a:off x="7143750" y="2657475"/>
            <a:ext cx="6286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9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5K</a:t>
            </a:r>
            <a:endParaRPr lang="en-US" sz="3900" dirty="0"/>
          </a:p>
        </p:txBody>
      </p:sp>
      <p:sp>
        <p:nvSpPr>
          <p:cNvPr id="20" name="Text 7"/>
          <p:cNvSpPr/>
          <p:nvPr/>
        </p:nvSpPr>
        <p:spPr>
          <a:xfrm>
            <a:off x="6915150" y="3267075"/>
            <a:ext cx="1085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Orders</a:t>
            </a:r>
            <a:endParaRPr lang="en-US" sz="1200" dirty="0"/>
          </a:p>
        </p:txBody>
      </p:sp>
      <p:sp>
        <p:nvSpPr>
          <p:cNvPr id="21" name="Text 8"/>
          <p:cNvSpPr/>
          <p:nvPr/>
        </p:nvSpPr>
        <p:spPr>
          <a:xfrm>
            <a:off x="9415463" y="2657475"/>
            <a:ext cx="1533525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9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12.47%</a:t>
            </a:r>
            <a:endParaRPr lang="en-US" sz="3900" dirty="0"/>
          </a:p>
        </p:txBody>
      </p:sp>
      <p:sp>
        <p:nvSpPr>
          <p:cNvPr id="22" name="Text 9"/>
          <p:cNvSpPr/>
          <p:nvPr/>
        </p:nvSpPr>
        <p:spPr>
          <a:xfrm>
            <a:off x="9634538" y="3267075"/>
            <a:ext cx="10953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Profit Margin</a:t>
            </a:r>
            <a:endParaRPr lang="en-US" sz="1200" dirty="0"/>
          </a:p>
        </p:txBody>
      </p:sp>
      <p:pic>
        <p:nvPicPr>
          <p:cNvPr id="23" name="Image 11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66800" y="4610100"/>
            <a:ext cx="1438275" cy="381000"/>
          </a:xfrm>
          <a:prstGeom prst="rect">
            <a:avLst/>
          </a:prstGeom>
        </p:spPr>
      </p:pic>
      <p:sp>
        <p:nvSpPr>
          <p:cNvPr id="24" name="Text 10"/>
          <p:cNvSpPr/>
          <p:nvPr/>
        </p:nvSpPr>
        <p:spPr>
          <a:xfrm>
            <a:off x="1076325" y="4619625"/>
            <a:ext cx="141922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Highlights</a:t>
            </a:r>
            <a:endParaRPr lang="en-US" sz="1400" dirty="0"/>
          </a:p>
        </p:txBody>
      </p:sp>
      <p:pic>
        <p:nvPicPr>
          <p:cNvPr id="25" name="Image 12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09675" y="5334000"/>
            <a:ext cx="190500" cy="209550"/>
          </a:xfrm>
          <a:prstGeom prst="rect">
            <a:avLst/>
          </a:prstGeom>
        </p:spPr>
      </p:pic>
      <p:sp>
        <p:nvSpPr>
          <p:cNvPr id="26" name="Text 11"/>
          <p:cNvSpPr/>
          <p:nvPr/>
        </p:nvSpPr>
        <p:spPr>
          <a:xfrm>
            <a:off x="1685925" y="5210175"/>
            <a:ext cx="13906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Best Sales Year</a:t>
            </a:r>
            <a:endParaRPr lang="en-US" sz="1200" dirty="0"/>
          </a:p>
        </p:txBody>
      </p:sp>
      <p:sp>
        <p:nvSpPr>
          <p:cNvPr id="27" name="Text 12"/>
          <p:cNvSpPr/>
          <p:nvPr/>
        </p:nvSpPr>
        <p:spPr>
          <a:xfrm>
            <a:off x="1685925" y="5476875"/>
            <a:ext cx="1390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2022</a:t>
            </a:r>
            <a:endParaRPr lang="en-US" sz="1100" dirty="0"/>
          </a:p>
        </p:txBody>
      </p:sp>
      <p:pic>
        <p:nvPicPr>
          <p:cNvPr id="28" name="Image 13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629150" y="5334000"/>
            <a:ext cx="247650" cy="209550"/>
          </a:xfrm>
          <a:prstGeom prst="rect">
            <a:avLst/>
          </a:prstGeom>
        </p:spPr>
      </p:pic>
      <p:sp>
        <p:nvSpPr>
          <p:cNvPr id="29" name="Text 13"/>
          <p:cNvSpPr/>
          <p:nvPr/>
        </p:nvSpPr>
        <p:spPr>
          <a:xfrm>
            <a:off x="5133975" y="5210175"/>
            <a:ext cx="2057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Most Profitable Region</a:t>
            </a:r>
            <a:endParaRPr lang="en-US" sz="1200" dirty="0"/>
          </a:p>
        </p:txBody>
      </p:sp>
      <p:sp>
        <p:nvSpPr>
          <p:cNvPr id="30" name="Text 14"/>
          <p:cNvSpPr/>
          <p:nvPr/>
        </p:nvSpPr>
        <p:spPr>
          <a:xfrm>
            <a:off x="5133975" y="5476875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West</a:t>
            </a:r>
            <a:endParaRPr lang="en-US" sz="1100" dirty="0"/>
          </a:p>
        </p:txBody>
      </p:sp>
      <p:pic>
        <p:nvPicPr>
          <p:cNvPr id="31" name="Image 14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67675" y="5334000"/>
            <a:ext cx="266700" cy="209550"/>
          </a:xfrm>
          <a:prstGeom prst="rect">
            <a:avLst/>
          </a:prstGeom>
        </p:spPr>
      </p:pic>
      <p:sp>
        <p:nvSpPr>
          <p:cNvPr id="32" name="Text 15"/>
          <p:cNvSpPr/>
          <p:nvPr/>
        </p:nvSpPr>
        <p:spPr>
          <a:xfrm>
            <a:off x="8582025" y="5210175"/>
            <a:ext cx="22574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Most Profitable Segment</a:t>
            </a:r>
            <a:endParaRPr lang="en-US" sz="1200" dirty="0"/>
          </a:p>
        </p:txBody>
      </p:sp>
      <p:sp>
        <p:nvSpPr>
          <p:cNvPr id="33" name="Text 16"/>
          <p:cNvSpPr/>
          <p:nvPr/>
        </p:nvSpPr>
        <p:spPr>
          <a:xfrm>
            <a:off x="8582025" y="5476875"/>
            <a:ext cx="22574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Consumer</a:t>
            </a:r>
            <a:endParaRPr lang="en-US" sz="1100" dirty="0"/>
          </a:p>
        </p:txBody>
      </p:sp>
      <p:sp>
        <p:nvSpPr>
          <p:cNvPr id="34" name="Text 17"/>
          <p:cNvSpPr/>
          <p:nvPr/>
        </p:nvSpPr>
        <p:spPr>
          <a:xfrm>
            <a:off x="762000" y="6381750"/>
            <a:ext cx="33051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999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Superstore Sales Performance Report | 2019–2022</a:t>
            </a:r>
            <a:endParaRPr lang="en-US" sz="900" dirty="0"/>
          </a:p>
        </p:txBody>
      </p:sp>
      <p:sp>
        <p:nvSpPr>
          <p:cNvPr id="35" name="Text 18"/>
          <p:cNvSpPr/>
          <p:nvPr/>
        </p:nvSpPr>
        <p:spPr>
          <a:xfrm>
            <a:off x="11268075" y="6381750"/>
            <a:ext cx="1619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999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900000">
            <a:off x="10439400" y="333375"/>
            <a:ext cx="1409700" cy="1323975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1975" y="1743075"/>
            <a:ext cx="5886450" cy="6858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" y="1866900"/>
            <a:ext cx="400050" cy="40005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1975" y="2486025"/>
            <a:ext cx="5886450" cy="6858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" y="2609850"/>
            <a:ext cx="400050" cy="40005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1975" y="3228975"/>
            <a:ext cx="5886450" cy="6858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5800" y="3352800"/>
            <a:ext cx="400050" cy="40005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61975" y="4467225"/>
            <a:ext cx="2914650" cy="676275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524250" y="4467225"/>
            <a:ext cx="2924175" cy="676275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61975" y="5200650"/>
            <a:ext cx="2914650" cy="676275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524250" y="5200650"/>
            <a:ext cx="2924175" cy="676275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86700" y="1857375"/>
            <a:ext cx="2733675" cy="6477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210675" y="2466975"/>
            <a:ext cx="47625" cy="20955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172575" y="2600325"/>
            <a:ext cx="123825" cy="762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886700" y="2676525"/>
            <a:ext cx="2733675" cy="6477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210675" y="3286125"/>
            <a:ext cx="47625" cy="20955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172575" y="3419475"/>
            <a:ext cx="123825" cy="762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886700" y="3495675"/>
            <a:ext cx="2733675" cy="6477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210675" y="4105275"/>
            <a:ext cx="47625" cy="20955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172575" y="4238625"/>
            <a:ext cx="123825" cy="762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886700" y="4314825"/>
            <a:ext cx="2733675" cy="6477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210675" y="4924425"/>
            <a:ext cx="47625" cy="209550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172575" y="5057775"/>
            <a:ext cx="123825" cy="76200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886700" y="5133975"/>
            <a:ext cx="2733675" cy="647700"/>
          </a:xfrm>
          <a:prstGeom prst="rect">
            <a:avLst/>
          </a:prstGeom>
        </p:spPr>
      </p:pic>
      <p:sp>
        <p:nvSpPr>
          <p:cNvPr id="28" name="Text 0"/>
          <p:cNvSpPr/>
          <p:nvPr/>
        </p:nvSpPr>
        <p:spPr>
          <a:xfrm>
            <a:off x="571500" y="571500"/>
            <a:ext cx="11049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We Did This (Tools &amp; KPIs)</a:t>
            </a:r>
            <a:endParaRPr lang="en-US" sz="3400" dirty="0"/>
          </a:p>
        </p:txBody>
      </p:sp>
      <p:sp>
        <p:nvSpPr>
          <p:cNvPr id="29" name="Text 1"/>
          <p:cNvSpPr/>
          <p:nvPr/>
        </p:nvSpPr>
        <p:spPr>
          <a:xfrm>
            <a:off x="838200" y="1371600"/>
            <a:ext cx="10572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37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Tools Used</a:t>
            </a:r>
            <a:endParaRPr lang="en-US" sz="1400" dirty="0"/>
          </a:p>
        </p:txBody>
      </p:sp>
      <p:pic>
        <p:nvPicPr>
          <p:cNvPr id="30" name="Image 26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61975" y="1400175"/>
            <a:ext cx="209550" cy="209550"/>
          </a:xfrm>
          <a:prstGeom prst="rect">
            <a:avLst/>
          </a:prstGeom>
        </p:spPr>
      </p:pic>
      <p:pic>
        <p:nvPicPr>
          <p:cNvPr id="31" name="Image 27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09625" y="1990725"/>
            <a:ext cx="152400" cy="152400"/>
          </a:xfrm>
          <a:prstGeom prst="rect">
            <a:avLst/>
          </a:prstGeom>
        </p:spPr>
      </p:pic>
      <p:sp>
        <p:nvSpPr>
          <p:cNvPr id="32" name="Text 2"/>
          <p:cNvSpPr/>
          <p:nvPr/>
        </p:nvSpPr>
        <p:spPr>
          <a:xfrm>
            <a:off x="1190625" y="1895475"/>
            <a:ext cx="1752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Power BI</a:t>
            </a:r>
            <a:endParaRPr lang="en-US" sz="1100" dirty="0"/>
          </a:p>
        </p:txBody>
      </p:sp>
      <p:sp>
        <p:nvSpPr>
          <p:cNvPr id="33" name="Text 3"/>
          <p:cNvSpPr/>
          <p:nvPr/>
        </p:nvSpPr>
        <p:spPr>
          <a:xfrm>
            <a:off x="1190625" y="2076450"/>
            <a:ext cx="175260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D37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Build charts and dashboards</a:t>
            </a:r>
            <a:endParaRPr lang="en-US" sz="800" dirty="0"/>
          </a:p>
        </p:txBody>
      </p:sp>
      <p:pic>
        <p:nvPicPr>
          <p:cNvPr id="34" name="Image 28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19150" y="2733675"/>
            <a:ext cx="133350" cy="152400"/>
          </a:xfrm>
          <a:prstGeom prst="rect">
            <a:avLst/>
          </a:prstGeom>
        </p:spPr>
      </p:pic>
      <p:sp>
        <p:nvSpPr>
          <p:cNvPr id="35" name="Text 4"/>
          <p:cNvSpPr/>
          <p:nvPr/>
        </p:nvSpPr>
        <p:spPr>
          <a:xfrm>
            <a:off x="1190625" y="2638425"/>
            <a:ext cx="1343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DAX</a:t>
            </a:r>
            <a:endParaRPr lang="en-US" sz="1100" dirty="0"/>
          </a:p>
        </p:txBody>
      </p:sp>
      <p:sp>
        <p:nvSpPr>
          <p:cNvPr id="36" name="Text 5"/>
          <p:cNvSpPr/>
          <p:nvPr/>
        </p:nvSpPr>
        <p:spPr>
          <a:xfrm>
            <a:off x="1190625" y="2819400"/>
            <a:ext cx="134302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D37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Create KPI calculations</a:t>
            </a:r>
            <a:endParaRPr lang="en-US" sz="800" dirty="0"/>
          </a:p>
        </p:txBody>
      </p:sp>
      <p:pic>
        <p:nvPicPr>
          <p:cNvPr id="37" name="Image 29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19150" y="3476625"/>
            <a:ext cx="133350" cy="152400"/>
          </a:xfrm>
          <a:prstGeom prst="rect">
            <a:avLst/>
          </a:prstGeom>
        </p:spPr>
      </p:pic>
      <p:sp>
        <p:nvSpPr>
          <p:cNvPr id="38" name="Text 6"/>
          <p:cNvSpPr/>
          <p:nvPr/>
        </p:nvSpPr>
        <p:spPr>
          <a:xfrm>
            <a:off x="1190625" y="3381375"/>
            <a:ext cx="2324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Model</a:t>
            </a:r>
            <a:endParaRPr lang="en-US" sz="1100" dirty="0"/>
          </a:p>
        </p:txBody>
      </p:sp>
      <p:sp>
        <p:nvSpPr>
          <p:cNvPr id="39" name="Text 7"/>
          <p:cNvSpPr/>
          <p:nvPr/>
        </p:nvSpPr>
        <p:spPr>
          <a:xfrm>
            <a:off x="1190625" y="3562350"/>
            <a:ext cx="232410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D37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Connect tables so reports work correctly</a:t>
            </a:r>
            <a:endParaRPr lang="en-US" sz="800" dirty="0"/>
          </a:p>
        </p:txBody>
      </p:sp>
      <p:sp>
        <p:nvSpPr>
          <p:cNvPr id="40" name="Text 8"/>
          <p:cNvSpPr/>
          <p:nvPr/>
        </p:nvSpPr>
        <p:spPr>
          <a:xfrm>
            <a:off x="838200" y="4095750"/>
            <a:ext cx="13049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37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KPI Meanings</a:t>
            </a:r>
            <a:endParaRPr lang="en-US" sz="1400" dirty="0"/>
          </a:p>
        </p:txBody>
      </p:sp>
      <p:pic>
        <p:nvPicPr>
          <p:cNvPr id="41" name="Image 30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561975" y="4124325"/>
            <a:ext cx="209550" cy="209550"/>
          </a:xfrm>
          <a:prstGeom prst="rect">
            <a:avLst/>
          </a:prstGeom>
        </p:spPr>
      </p:pic>
      <p:sp>
        <p:nvSpPr>
          <p:cNvPr id="42" name="Text 9"/>
          <p:cNvSpPr/>
          <p:nvPr/>
        </p:nvSpPr>
        <p:spPr>
          <a:xfrm>
            <a:off x="695325" y="4600575"/>
            <a:ext cx="260791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Sales</a:t>
            </a:r>
            <a:endParaRPr lang="en-US" sz="900" dirty="0"/>
          </a:p>
        </p:txBody>
      </p:sp>
      <p:sp>
        <p:nvSpPr>
          <p:cNvPr id="43" name="Text 10"/>
          <p:cNvSpPr/>
          <p:nvPr/>
        </p:nvSpPr>
        <p:spPr>
          <a:xfrm>
            <a:off x="695325" y="4829175"/>
            <a:ext cx="260791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D37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 revenue</a:t>
            </a:r>
            <a:endParaRPr lang="en-US" sz="800" dirty="0"/>
          </a:p>
        </p:txBody>
      </p:sp>
      <p:sp>
        <p:nvSpPr>
          <p:cNvPr id="44" name="Text 11"/>
          <p:cNvSpPr/>
          <p:nvPr/>
        </p:nvSpPr>
        <p:spPr>
          <a:xfrm>
            <a:off x="3665190" y="4600575"/>
            <a:ext cx="260791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Profit</a:t>
            </a:r>
            <a:endParaRPr lang="en-US" sz="900" dirty="0"/>
          </a:p>
        </p:txBody>
      </p:sp>
      <p:sp>
        <p:nvSpPr>
          <p:cNvPr id="45" name="Text 12"/>
          <p:cNvSpPr/>
          <p:nvPr/>
        </p:nvSpPr>
        <p:spPr>
          <a:xfrm>
            <a:off x="3665190" y="4829175"/>
            <a:ext cx="260791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D37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Money left after costs</a:t>
            </a:r>
            <a:endParaRPr lang="en-US" sz="800" dirty="0"/>
          </a:p>
        </p:txBody>
      </p:sp>
      <p:sp>
        <p:nvSpPr>
          <p:cNvPr id="46" name="Text 13"/>
          <p:cNvSpPr/>
          <p:nvPr/>
        </p:nvSpPr>
        <p:spPr>
          <a:xfrm>
            <a:off x="695325" y="5334000"/>
            <a:ext cx="260791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Orders</a:t>
            </a:r>
            <a:endParaRPr lang="en-US" sz="900" dirty="0"/>
          </a:p>
        </p:txBody>
      </p:sp>
      <p:sp>
        <p:nvSpPr>
          <p:cNvPr id="47" name="Text 14"/>
          <p:cNvSpPr/>
          <p:nvPr/>
        </p:nvSpPr>
        <p:spPr>
          <a:xfrm>
            <a:off x="695325" y="5562600"/>
            <a:ext cx="260791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D37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Number of orders</a:t>
            </a:r>
            <a:endParaRPr lang="en-US" sz="800" dirty="0"/>
          </a:p>
        </p:txBody>
      </p:sp>
      <p:sp>
        <p:nvSpPr>
          <p:cNvPr id="48" name="Text 15"/>
          <p:cNvSpPr/>
          <p:nvPr/>
        </p:nvSpPr>
        <p:spPr>
          <a:xfrm>
            <a:off x="3665190" y="5334000"/>
            <a:ext cx="260791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B5C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Profit Margin</a:t>
            </a:r>
            <a:endParaRPr lang="en-US" sz="900" dirty="0"/>
          </a:p>
        </p:txBody>
      </p:sp>
      <p:sp>
        <p:nvSpPr>
          <p:cNvPr id="49" name="Text 16"/>
          <p:cNvSpPr/>
          <p:nvPr/>
        </p:nvSpPr>
        <p:spPr>
          <a:xfrm>
            <a:off x="3665190" y="5562600"/>
            <a:ext cx="260791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D37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Profit ÷ Sales</a:t>
            </a:r>
            <a:endParaRPr lang="en-US" sz="800" dirty="0"/>
          </a:p>
        </p:txBody>
      </p:sp>
      <p:sp>
        <p:nvSpPr>
          <p:cNvPr id="50" name="Text 17"/>
          <p:cNvSpPr/>
          <p:nvPr/>
        </p:nvSpPr>
        <p:spPr>
          <a:xfrm>
            <a:off x="8608665" y="1447800"/>
            <a:ext cx="12573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D37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Process Flow</a:t>
            </a:r>
            <a:endParaRPr lang="en-US" sz="1400" dirty="0"/>
          </a:p>
        </p:txBody>
      </p:sp>
      <p:pic>
        <p:nvPicPr>
          <p:cNvPr id="51" name="Image 31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9144000" y="1962150"/>
            <a:ext cx="180975" cy="190500"/>
          </a:xfrm>
          <a:prstGeom prst="rect">
            <a:avLst/>
          </a:prstGeom>
        </p:spPr>
      </p:pic>
      <p:sp>
        <p:nvSpPr>
          <p:cNvPr id="52" name="Text 18"/>
          <p:cNvSpPr/>
          <p:nvPr/>
        </p:nvSpPr>
        <p:spPr>
          <a:xfrm>
            <a:off x="8008590" y="2162175"/>
            <a:ext cx="24574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Superstore Data</a:t>
            </a:r>
            <a:endParaRPr lang="en-US" sz="900" dirty="0"/>
          </a:p>
        </p:txBody>
      </p:sp>
      <p:pic>
        <p:nvPicPr>
          <p:cNvPr id="53" name="Image 32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9124950" y="2781300"/>
            <a:ext cx="219075" cy="190500"/>
          </a:xfrm>
          <a:prstGeom prst="rect">
            <a:avLst/>
          </a:prstGeom>
        </p:spPr>
      </p:pic>
      <p:sp>
        <p:nvSpPr>
          <p:cNvPr id="54" name="Text 19"/>
          <p:cNvSpPr/>
          <p:nvPr/>
        </p:nvSpPr>
        <p:spPr>
          <a:xfrm>
            <a:off x="8008590" y="2981325"/>
            <a:ext cx="24574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Cleaning Data</a:t>
            </a:r>
            <a:endParaRPr lang="en-US" sz="900" dirty="0"/>
          </a:p>
        </p:txBody>
      </p:sp>
      <p:pic>
        <p:nvPicPr>
          <p:cNvPr id="55" name="Image 33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9124950" y="3600450"/>
            <a:ext cx="219075" cy="190500"/>
          </a:xfrm>
          <a:prstGeom prst="rect">
            <a:avLst/>
          </a:prstGeom>
        </p:spPr>
      </p:pic>
      <p:sp>
        <p:nvSpPr>
          <p:cNvPr id="56" name="Text 20"/>
          <p:cNvSpPr/>
          <p:nvPr/>
        </p:nvSpPr>
        <p:spPr>
          <a:xfrm>
            <a:off x="8008590" y="3800475"/>
            <a:ext cx="24574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Model</a:t>
            </a:r>
            <a:endParaRPr lang="en-US" sz="900" dirty="0"/>
          </a:p>
        </p:txBody>
      </p:sp>
      <p:pic>
        <p:nvPicPr>
          <p:cNvPr id="57" name="Image 34" descr="preencode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9153525" y="4419600"/>
            <a:ext cx="161925" cy="190500"/>
          </a:xfrm>
          <a:prstGeom prst="rect">
            <a:avLst/>
          </a:prstGeom>
        </p:spPr>
      </p:pic>
      <p:sp>
        <p:nvSpPr>
          <p:cNvPr id="58" name="Text 21"/>
          <p:cNvSpPr/>
          <p:nvPr/>
        </p:nvSpPr>
        <p:spPr>
          <a:xfrm>
            <a:off x="8008590" y="4619625"/>
            <a:ext cx="24574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DAX Measures</a:t>
            </a:r>
            <a:endParaRPr lang="en-US" sz="900" dirty="0"/>
          </a:p>
        </p:txBody>
      </p:sp>
      <p:pic>
        <p:nvPicPr>
          <p:cNvPr id="59" name="Image 35" descr="preencoded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9124950" y="5238750"/>
            <a:ext cx="219075" cy="190500"/>
          </a:xfrm>
          <a:prstGeom prst="rect">
            <a:avLst/>
          </a:prstGeom>
        </p:spPr>
      </p:pic>
      <p:sp>
        <p:nvSpPr>
          <p:cNvPr id="60" name="Text 22"/>
          <p:cNvSpPr/>
          <p:nvPr/>
        </p:nvSpPr>
        <p:spPr>
          <a:xfrm>
            <a:off x="8008590" y="5438775"/>
            <a:ext cx="24574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Charts &amp; Insights</a:t>
            </a:r>
            <a:endParaRPr lang="en-US" sz="900" dirty="0"/>
          </a:p>
        </p:txBody>
      </p:sp>
      <p:sp>
        <p:nvSpPr>
          <p:cNvPr id="61" name="Text 23"/>
          <p:cNvSpPr/>
          <p:nvPr/>
        </p:nvSpPr>
        <p:spPr>
          <a:xfrm>
            <a:off x="571500" y="6381750"/>
            <a:ext cx="33051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999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Superstore Sales Performance Report | 2019–2022</a:t>
            </a:r>
            <a:endParaRPr lang="en-US" sz="900" dirty="0"/>
          </a:p>
        </p:txBody>
      </p:sp>
      <p:sp>
        <p:nvSpPr>
          <p:cNvPr id="62" name="Text 24"/>
          <p:cNvSpPr/>
          <p:nvPr/>
        </p:nvSpPr>
        <p:spPr>
          <a:xfrm>
            <a:off x="11525250" y="6381750"/>
            <a:ext cx="95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999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4">
            <a:alphaModFix amt="35000"/>
          </a:blip>
          <a:stretch>
            <a:fillRect/>
          </a:stretch>
        </p:blipFill>
        <p:spPr>
          <a:xfrm rot="1799999">
            <a:off x="9525000" y="361950"/>
            <a:ext cx="2095500" cy="19812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2475" y="1666875"/>
            <a:ext cx="7286625" cy="4562475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34375" y="1914525"/>
            <a:ext cx="3171825" cy="1514475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34375" y="3648075"/>
            <a:ext cx="3171825" cy="2333625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48700" y="4038600"/>
            <a:ext cx="133350" cy="142875"/>
          </a:xfrm>
          <a:prstGeom prst="rect">
            <a:avLst/>
          </a:prstGeom>
        </p:spPr>
      </p:pic>
      <p:sp>
        <p:nvSpPr>
          <p:cNvPr id="9" name="Text 0"/>
          <p:cNvSpPr/>
          <p:nvPr/>
        </p:nvSpPr>
        <p:spPr>
          <a:xfrm>
            <a:off x="762000" y="762000"/>
            <a:ext cx="10668000" cy="6133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9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Sales Trend (2019–2022)</a:t>
            </a:r>
            <a:endParaRPr lang="en-US" sz="3900" dirty="0"/>
          </a:p>
        </p:txBody>
      </p:sp>
      <p:pic>
        <p:nvPicPr>
          <p:cNvPr id="10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00125" y="1918246"/>
            <a:ext cx="6724650" cy="3990975"/>
          </a:xfrm>
          <a:prstGeom prst="rect">
            <a:avLst/>
          </a:prstGeom>
        </p:spPr>
      </p:pic>
      <p:sp>
        <p:nvSpPr>
          <p:cNvPr id="11" name="Text 1"/>
          <p:cNvSpPr/>
          <p:nvPr/>
        </p:nvSpPr>
        <p:spPr>
          <a:xfrm>
            <a:off x="9015413" y="2240161"/>
            <a:ext cx="17430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D37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Overall Profit Margin</a:t>
            </a:r>
            <a:endParaRPr lang="en-US" sz="1200" dirty="0"/>
          </a:p>
        </p:txBody>
      </p:sp>
      <p:sp>
        <p:nvSpPr>
          <p:cNvPr id="12" name="Text 2"/>
          <p:cNvSpPr/>
          <p:nvPr/>
        </p:nvSpPr>
        <p:spPr>
          <a:xfrm>
            <a:off x="9134475" y="2583061"/>
            <a:ext cx="15049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12.47%</a:t>
            </a:r>
            <a:endParaRPr lang="en-US" sz="3400" dirty="0"/>
          </a:p>
        </p:txBody>
      </p:sp>
      <p:sp>
        <p:nvSpPr>
          <p:cNvPr id="13" name="Text 3"/>
          <p:cNvSpPr/>
          <p:nvPr/>
        </p:nvSpPr>
        <p:spPr>
          <a:xfrm>
            <a:off x="8886825" y="3973711"/>
            <a:ext cx="10953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Insight</a:t>
            </a:r>
            <a:endParaRPr lang="en-US" sz="1400" dirty="0"/>
          </a:p>
        </p:txBody>
      </p:sp>
      <p:sp>
        <p:nvSpPr>
          <p:cNvPr id="14" name="Text 4"/>
          <p:cNvSpPr/>
          <p:nvPr/>
        </p:nvSpPr>
        <p:spPr>
          <a:xfrm>
            <a:off x="8658225" y="4354711"/>
            <a:ext cx="245745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Sales have shown a consistent upward trajectory over the 4-year period, culminating in </a:t>
            </a:r>
            <a:r>
              <a:rPr lang="en-US" sz="1100" b="1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2022</a:t>
            </a:r>
            <a:r>
              <a:rPr lang="en-US" sz="1100" dirty="0">
                <a:solidFill>
                  <a:srgbClr val="2D37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recording the highest sales figures to date.</a:t>
            </a:r>
            <a:endParaRPr lang="en-US" sz="1100" dirty="0"/>
          </a:p>
        </p:txBody>
      </p:sp>
      <p:sp>
        <p:nvSpPr>
          <p:cNvPr id="15" name="Text 5"/>
          <p:cNvSpPr/>
          <p:nvPr/>
        </p:nvSpPr>
        <p:spPr>
          <a:xfrm>
            <a:off x="762000" y="6381750"/>
            <a:ext cx="33051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999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Superstore Sales Performance Report | 2019–2022</a:t>
            </a:r>
            <a:endParaRPr lang="en-US" sz="900" dirty="0"/>
          </a:p>
        </p:txBody>
      </p:sp>
      <p:sp>
        <p:nvSpPr>
          <p:cNvPr id="16" name="Text 6"/>
          <p:cNvSpPr/>
          <p:nvPr/>
        </p:nvSpPr>
        <p:spPr>
          <a:xfrm>
            <a:off x="11353800" y="6381750"/>
            <a:ext cx="76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999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900000">
            <a:off x="9525000" y="361950"/>
            <a:ext cx="2095500" cy="19812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2475" y="1200150"/>
            <a:ext cx="6486525" cy="4657725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62875" y="2952750"/>
            <a:ext cx="133350" cy="142875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62875" y="3848100"/>
            <a:ext cx="133350" cy="142875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62875" y="4752975"/>
            <a:ext cx="133350" cy="142875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76325" y="1524000"/>
            <a:ext cx="5772150" cy="3943350"/>
          </a:xfrm>
          <a:prstGeom prst="rect">
            <a:avLst/>
          </a:prstGeom>
        </p:spPr>
      </p:pic>
      <p:sp>
        <p:nvSpPr>
          <p:cNvPr id="10" name="Text 0"/>
          <p:cNvSpPr/>
          <p:nvPr/>
        </p:nvSpPr>
        <p:spPr>
          <a:xfrm>
            <a:off x="7772400" y="1278582"/>
            <a:ext cx="3657600" cy="12266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9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Category
Results</a:t>
            </a:r>
            <a:endParaRPr lang="en-US" sz="3900" dirty="0"/>
          </a:p>
        </p:txBody>
      </p:sp>
      <p:sp>
        <p:nvSpPr>
          <p:cNvPr id="11" name="Text 1"/>
          <p:cNvSpPr/>
          <p:nvPr/>
        </p:nvSpPr>
        <p:spPr>
          <a:xfrm>
            <a:off x="7772400" y="3076724"/>
            <a:ext cx="3657600" cy="5572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37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Technology</a:t>
            </a:r>
            <a:r>
              <a:rPr lang="en-US" sz="1200" dirty="0">
                <a:solidFill>
                  <a:srgbClr val="2D37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generated the highest sales among all categories.</a:t>
            </a:r>
            <a:endParaRPr lang="en-US" sz="1200" dirty="0"/>
          </a:p>
        </p:txBody>
      </p:sp>
      <p:sp>
        <p:nvSpPr>
          <p:cNvPr id="12" name="Text 2"/>
          <p:cNvSpPr/>
          <p:nvPr/>
        </p:nvSpPr>
        <p:spPr>
          <a:xfrm>
            <a:off x="7772400" y="3976836"/>
            <a:ext cx="3657600" cy="5572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37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Furniture</a:t>
            </a:r>
            <a:r>
              <a:rPr lang="en-US" sz="1200" dirty="0">
                <a:solidFill>
                  <a:srgbClr val="2D37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ranked second, while Office Supplies produced slightly lower sales.</a:t>
            </a:r>
            <a:endParaRPr lang="en-US" sz="1200" dirty="0"/>
          </a:p>
        </p:txBody>
      </p:sp>
      <p:sp>
        <p:nvSpPr>
          <p:cNvPr id="13" name="Text 3"/>
          <p:cNvSpPr/>
          <p:nvPr/>
        </p:nvSpPr>
        <p:spPr>
          <a:xfrm>
            <a:off x="7772400" y="4876949"/>
            <a:ext cx="3657600" cy="8358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Technology products are the most important revenue drivers for the business.</a:t>
            </a:r>
            <a:endParaRPr lang="en-US" sz="1200" dirty="0"/>
          </a:p>
        </p:txBody>
      </p:sp>
      <p:sp>
        <p:nvSpPr>
          <p:cNvPr id="14" name="Text 4"/>
          <p:cNvSpPr/>
          <p:nvPr/>
        </p:nvSpPr>
        <p:spPr>
          <a:xfrm>
            <a:off x="762000" y="6381750"/>
            <a:ext cx="33051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999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Superstore Sales Performance Report | 2019–2022</a:t>
            </a:r>
            <a:endParaRPr lang="en-US" sz="900" dirty="0"/>
          </a:p>
        </p:txBody>
      </p:sp>
      <p:sp>
        <p:nvSpPr>
          <p:cNvPr id="15" name="Text 5"/>
          <p:cNvSpPr/>
          <p:nvPr/>
        </p:nvSpPr>
        <p:spPr>
          <a:xfrm>
            <a:off x="11344275" y="6381750"/>
            <a:ext cx="857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999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-900000">
            <a:off x="1266825" y="962025"/>
            <a:ext cx="1752600" cy="165735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2475" y="1943100"/>
            <a:ext cx="6486525" cy="4086225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10475" y="2600325"/>
            <a:ext cx="3895725" cy="1152525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10475" y="3971925"/>
            <a:ext cx="3895725" cy="1400175"/>
          </a:xfrm>
          <a:prstGeom prst="rect">
            <a:avLst/>
          </a:prstGeom>
        </p:spPr>
      </p:pic>
      <p:sp>
        <p:nvSpPr>
          <p:cNvPr id="8" name="Text 0"/>
          <p:cNvSpPr/>
          <p:nvPr/>
        </p:nvSpPr>
        <p:spPr>
          <a:xfrm>
            <a:off x="762000" y="762000"/>
            <a:ext cx="10668000" cy="6133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9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Region Profit Results</a:t>
            </a:r>
            <a:endParaRPr lang="en-US" sz="3900" dirty="0"/>
          </a:p>
        </p:txBody>
      </p:sp>
      <p:pic>
        <p:nvPicPr>
          <p:cNvPr id="9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76325" y="2268736"/>
            <a:ext cx="5772150" cy="3371850"/>
          </a:xfrm>
          <a:prstGeom prst="rect">
            <a:avLst/>
          </a:prstGeom>
        </p:spPr>
      </p:pic>
      <p:pic>
        <p:nvPicPr>
          <p:cNvPr id="10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848600" y="2838450"/>
            <a:ext cx="323850" cy="333375"/>
          </a:xfrm>
          <a:prstGeom prst="rect">
            <a:avLst/>
          </a:prstGeom>
        </p:spPr>
      </p:pic>
      <p:sp>
        <p:nvSpPr>
          <p:cNvPr id="11" name="Text 1"/>
          <p:cNvSpPr/>
          <p:nvPr/>
        </p:nvSpPr>
        <p:spPr>
          <a:xfrm>
            <a:off x="7858125" y="2849761"/>
            <a:ext cx="304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highlight>
                  <a:srgbClr val="000000"/>
                </a:highlight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2"/>
          <p:cNvSpPr/>
          <p:nvPr/>
        </p:nvSpPr>
        <p:spPr>
          <a:xfrm>
            <a:off x="8315325" y="2849761"/>
            <a:ext cx="26384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West Region Success</a:t>
            </a:r>
            <a:endParaRPr lang="en-US" sz="1400" dirty="0"/>
          </a:p>
        </p:txBody>
      </p:sp>
      <p:sp>
        <p:nvSpPr>
          <p:cNvPr id="13" name="Text 3"/>
          <p:cNvSpPr/>
          <p:nvPr/>
        </p:nvSpPr>
        <p:spPr>
          <a:xfrm>
            <a:off x="8315325" y="3192661"/>
            <a:ext cx="263842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 more of what works in the West</a:t>
            </a:r>
            <a:endParaRPr lang="en-US" sz="1100" dirty="0"/>
          </a:p>
        </p:txBody>
      </p:sp>
      <p:pic>
        <p:nvPicPr>
          <p:cNvPr id="14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848600" y="4210050"/>
            <a:ext cx="323850" cy="333375"/>
          </a:xfrm>
          <a:prstGeom prst="rect">
            <a:avLst/>
          </a:prstGeom>
        </p:spPr>
      </p:pic>
      <p:sp>
        <p:nvSpPr>
          <p:cNvPr id="15" name="Text 4"/>
          <p:cNvSpPr/>
          <p:nvPr/>
        </p:nvSpPr>
        <p:spPr>
          <a:xfrm>
            <a:off x="7858125" y="4221361"/>
            <a:ext cx="304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highlight>
                  <a:srgbClr val="000000"/>
                </a:highlight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5"/>
          <p:cNvSpPr/>
          <p:nvPr/>
        </p:nvSpPr>
        <p:spPr>
          <a:xfrm>
            <a:off x="8315325" y="4221361"/>
            <a:ext cx="28765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Central Region Issues</a:t>
            </a:r>
            <a:endParaRPr lang="en-US" sz="1400" dirty="0"/>
          </a:p>
        </p:txBody>
      </p:sp>
      <p:sp>
        <p:nvSpPr>
          <p:cNvPr id="17" name="Text 6"/>
          <p:cNvSpPr/>
          <p:nvPr/>
        </p:nvSpPr>
        <p:spPr>
          <a:xfrm>
            <a:off x="8315325" y="4564261"/>
            <a:ext cx="28765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Check why Central is low (discounts, shipping costs, product mix)</a:t>
            </a:r>
            <a:endParaRPr lang="en-US" sz="1100" dirty="0"/>
          </a:p>
        </p:txBody>
      </p:sp>
      <p:sp>
        <p:nvSpPr>
          <p:cNvPr id="18" name="Text 7"/>
          <p:cNvSpPr/>
          <p:nvPr/>
        </p:nvSpPr>
        <p:spPr>
          <a:xfrm>
            <a:off x="762000" y="6381750"/>
            <a:ext cx="33051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999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Superstore Sales Performance Report | 2019–2022</a:t>
            </a:r>
            <a:endParaRPr lang="en-US" sz="900" dirty="0"/>
          </a:p>
        </p:txBody>
      </p:sp>
      <p:sp>
        <p:nvSpPr>
          <p:cNvPr id="19" name="Text 8"/>
          <p:cNvSpPr/>
          <p:nvPr/>
        </p:nvSpPr>
        <p:spPr>
          <a:xfrm>
            <a:off x="11344275" y="6381750"/>
            <a:ext cx="857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999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900000">
            <a:off x="9172575" y="581025"/>
            <a:ext cx="1752600" cy="165735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2475" y="2076450"/>
            <a:ext cx="5953125" cy="4086225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77075" y="2886075"/>
            <a:ext cx="4429125" cy="2238375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91400" y="3657600"/>
            <a:ext cx="114300" cy="123825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91400" y="4305300"/>
            <a:ext cx="114300" cy="123825"/>
          </a:xfrm>
          <a:prstGeom prst="rect">
            <a:avLst/>
          </a:prstGeom>
        </p:spPr>
      </p:pic>
      <p:sp>
        <p:nvSpPr>
          <p:cNvPr id="9" name="Text 0"/>
          <p:cNvSpPr/>
          <p:nvPr/>
        </p:nvSpPr>
        <p:spPr>
          <a:xfrm>
            <a:off x="762000" y="762000"/>
            <a:ext cx="10668000" cy="6133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9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Customer Segments</a:t>
            </a:r>
            <a:endParaRPr lang="en-US" sz="3900" dirty="0"/>
          </a:p>
        </p:txBody>
      </p:sp>
      <p:sp>
        <p:nvSpPr>
          <p:cNvPr id="10" name="Text 1"/>
          <p:cNvSpPr/>
          <p:nvPr/>
        </p:nvSpPr>
        <p:spPr>
          <a:xfrm>
            <a:off x="762000" y="1451521"/>
            <a:ext cx="8572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Consumer customers bring the most profit. Corporate and Home Office bring less.</a:t>
            </a:r>
            <a:endParaRPr lang="en-US" sz="1200" dirty="0"/>
          </a:p>
        </p:txBody>
      </p:sp>
      <p:pic>
        <p:nvPicPr>
          <p:cNvPr id="11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0125" y="2325886"/>
            <a:ext cx="5391150" cy="3524250"/>
          </a:xfrm>
          <a:prstGeom prst="rect">
            <a:avLst/>
          </a:prstGeom>
        </p:spPr>
      </p:pic>
      <p:sp>
        <p:nvSpPr>
          <p:cNvPr id="12" name="Text 2"/>
          <p:cNvSpPr/>
          <p:nvPr/>
        </p:nvSpPr>
        <p:spPr>
          <a:xfrm>
            <a:off x="7400925" y="3211711"/>
            <a:ext cx="3714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this means:</a:t>
            </a:r>
            <a:endParaRPr lang="en-US" sz="1400" dirty="0"/>
          </a:p>
        </p:txBody>
      </p:sp>
      <p:sp>
        <p:nvSpPr>
          <p:cNvPr id="13" name="Text 3"/>
          <p:cNvSpPr/>
          <p:nvPr/>
        </p:nvSpPr>
        <p:spPr>
          <a:xfrm>
            <a:off x="7610475" y="3592711"/>
            <a:ext cx="35052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Keep Consumer customers happy (offers, good service)</a:t>
            </a:r>
            <a:endParaRPr lang="en-US" sz="1100" dirty="0"/>
          </a:p>
        </p:txBody>
      </p:sp>
      <p:sp>
        <p:nvSpPr>
          <p:cNvPr id="14" name="Text 4"/>
          <p:cNvSpPr/>
          <p:nvPr/>
        </p:nvSpPr>
        <p:spPr>
          <a:xfrm>
            <a:off x="7610475" y="4240411"/>
            <a:ext cx="35052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Create better deals for Corporate and Home Office to raise profit</a:t>
            </a:r>
            <a:endParaRPr lang="en-US" sz="1100" dirty="0"/>
          </a:p>
        </p:txBody>
      </p:sp>
      <p:sp>
        <p:nvSpPr>
          <p:cNvPr id="15" name="Text 5"/>
          <p:cNvSpPr/>
          <p:nvPr/>
        </p:nvSpPr>
        <p:spPr>
          <a:xfrm>
            <a:off x="762000" y="6381750"/>
            <a:ext cx="33051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999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Superstore Sales Performance Report | 2019–2022</a:t>
            </a:r>
            <a:endParaRPr lang="en-US" sz="900" dirty="0"/>
          </a:p>
        </p:txBody>
      </p:sp>
      <p:sp>
        <p:nvSpPr>
          <p:cNvPr id="16" name="Text 6"/>
          <p:cNvSpPr/>
          <p:nvPr/>
        </p:nvSpPr>
        <p:spPr>
          <a:xfrm>
            <a:off x="11258550" y="6381750"/>
            <a:ext cx="1714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999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900000">
            <a:off x="9525000" y="361950"/>
            <a:ext cx="2095500" cy="19812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2475" y="1200150"/>
            <a:ext cx="5953125" cy="4657725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29475" y="3933825"/>
            <a:ext cx="4210050" cy="809625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91400" y="4095750"/>
            <a:ext cx="323850" cy="333375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29475" y="4867275"/>
            <a:ext cx="4210050" cy="809625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91400" y="5029200"/>
            <a:ext cx="323850" cy="333375"/>
          </a:xfrm>
          <a:prstGeom prst="rect">
            <a:avLst/>
          </a:prstGeom>
        </p:spPr>
      </p:pic>
      <p:sp>
        <p:nvSpPr>
          <p:cNvPr id="10" name="Text 0"/>
          <p:cNvSpPr/>
          <p:nvPr/>
        </p:nvSpPr>
        <p:spPr>
          <a:xfrm>
            <a:off x="1076325" y="1524000"/>
            <a:ext cx="5238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Sales Contribution by Product</a:t>
            </a:r>
            <a:endParaRPr lang="en-US" sz="1400" dirty="0"/>
          </a:p>
        </p:txBody>
      </p:sp>
      <p:pic>
        <p:nvPicPr>
          <p:cNvPr id="11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76325" y="1943100"/>
            <a:ext cx="5238750" cy="3524250"/>
          </a:xfrm>
          <a:prstGeom prst="rect">
            <a:avLst/>
          </a:prstGeom>
        </p:spPr>
      </p:pic>
      <p:sp>
        <p:nvSpPr>
          <p:cNvPr id="12" name="Text 1"/>
          <p:cNvSpPr/>
          <p:nvPr/>
        </p:nvSpPr>
        <p:spPr>
          <a:xfrm>
            <a:off x="7239000" y="1329779"/>
            <a:ext cx="4191000" cy="12266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9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Product
Results</a:t>
            </a:r>
            <a:endParaRPr lang="en-US" sz="3900" dirty="0"/>
          </a:p>
        </p:txBody>
      </p:sp>
      <p:sp>
        <p:nvSpPr>
          <p:cNvPr id="13" name="Text 2"/>
          <p:cNvSpPr/>
          <p:nvPr/>
        </p:nvSpPr>
        <p:spPr>
          <a:xfrm>
            <a:off x="7239000" y="2861221"/>
            <a:ext cx="4191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37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Review in Product Details:</a:t>
            </a:r>
            <a:endParaRPr lang="en-US" sz="1400" dirty="0"/>
          </a:p>
        </p:txBody>
      </p:sp>
      <p:pic>
        <p:nvPicPr>
          <p:cNvPr id="14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229475" y="3267075"/>
            <a:ext cx="714375" cy="390525"/>
          </a:xfrm>
          <a:prstGeom prst="rect">
            <a:avLst/>
          </a:prstGeom>
        </p:spPr>
      </p:pic>
      <p:sp>
        <p:nvSpPr>
          <p:cNvPr id="15" name="Text 3"/>
          <p:cNvSpPr/>
          <p:nvPr/>
        </p:nvSpPr>
        <p:spPr>
          <a:xfrm>
            <a:off x="7391400" y="3356521"/>
            <a:ext cx="39052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0000"/>
                </a:solidFill>
                <a:highlight>
                  <a:srgbClr val="C2F693"/>
                </a:highlight>
                <a:latin typeface="Segoe UI" pitchFamily="34" charset="0"/>
                <a:ea typeface="Segoe UI" pitchFamily="34" charset="-122"/>
                <a:cs typeface="Segoe UI" pitchFamily="34" charset="-120"/>
              </a:rPr>
              <a:t>Sales</a:t>
            </a:r>
            <a:endParaRPr lang="en-US" sz="900" dirty="0"/>
          </a:p>
        </p:txBody>
      </p:sp>
      <p:pic>
        <p:nvPicPr>
          <p:cNvPr id="16" name="Image 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077200" y="3267075"/>
            <a:ext cx="714375" cy="390525"/>
          </a:xfrm>
          <a:prstGeom prst="rect">
            <a:avLst/>
          </a:prstGeom>
        </p:spPr>
      </p:pic>
      <p:sp>
        <p:nvSpPr>
          <p:cNvPr id="17" name="Text 4"/>
          <p:cNvSpPr/>
          <p:nvPr/>
        </p:nvSpPr>
        <p:spPr>
          <a:xfrm>
            <a:off x="8239125" y="3356521"/>
            <a:ext cx="39052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0000"/>
                </a:solidFill>
                <a:highlight>
                  <a:srgbClr val="AFD8FF"/>
                </a:highlight>
                <a:latin typeface="Segoe UI" pitchFamily="34" charset="0"/>
                <a:ea typeface="Segoe UI" pitchFamily="34" charset="-122"/>
                <a:cs typeface="Segoe UI" pitchFamily="34" charset="-120"/>
              </a:rPr>
              <a:t>Profit</a:t>
            </a:r>
            <a:endParaRPr lang="en-US" sz="900" dirty="0"/>
          </a:p>
        </p:txBody>
      </p:sp>
      <p:pic>
        <p:nvPicPr>
          <p:cNvPr id="18" name="Image 11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924925" y="3267075"/>
            <a:ext cx="1285875" cy="390525"/>
          </a:xfrm>
          <a:prstGeom prst="rect">
            <a:avLst/>
          </a:prstGeom>
        </p:spPr>
      </p:pic>
      <p:sp>
        <p:nvSpPr>
          <p:cNvPr id="19" name="Text 5"/>
          <p:cNvSpPr/>
          <p:nvPr/>
        </p:nvSpPr>
        <p:spPr>
          <a:xfrm>
            <a:off x="9086850" y="3356521"/>
            <a:ext cx="96202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0000"/>
                </a:solidFill>
                <a:highlight>
                  <a:srgbClr val="FFFFFF"/>
                </a:highlight>
                <a:latin typeface="Segoe UI" pitchFamily="34" charset="0"/>
                <a:ea typeface="Segoe UI" pitchFamily="34" charset="-122"/>
                <a:cs typeface="Segoe UI" pitchFamily="34" charset="-120"/>
              </a:rPr>
              <a:t>Quantity Sold</a:t>
            </a:r>
            <a:endParaRPr lang="en-US" sz="900" dirty="0"/>
          </a:p>
        </p:txBody>
      </p:sp>
      <p:pic>
        <p:nvPicPr>
          <p:cNvPr id="20" name="Image 1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486650" y="4171950"/>
            <a:ext cx="133350" cy="180975"/>
          </a:xfrm>
          <a:prstGeom prst="rect">
            <a:avLst/>
          </a:prstGeom>
        </p:spPr>
      </p:pic>
      <p:sp>
        <p:nvSpPr>
          <p:cNvPr id="21" name="Text 6"/>
          <p:cNvSpPr/>
          <p:nvPr/>
        </p:nvSpPr>
        <p:spPr>
          <a:xfrm>
            <a:off x="7858125" y="4108996"/>
            <a:ext cx="3314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37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Protect Top Products</a:t>
            </a:r>
            <a:endParaRPr lang="en-US" sz="1200" dirty="0"/>
          </a:p>
        </p:txBody>
      </p:sp>
      <p:sp>
        <p:nvSpPr>
          <p:cNvPr id="22" name="Text 7"/>
          <p:cNvSpPr/>
          <p:nvPr/>
        </p:nvSpPr>
        <p:spPr>
          <a:xfrm>
            <a:off x="7858125" y="4375696"/>
            <a:ext cx="3314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Ensure stock availability and consider promotions.</a:t>
            </a:r>
            <a:endParaRPr lang="en-US" sz="900" dirty="0"/>
          </a:p>
        </p:txBody>
      </p:sp>
      <p:pic>
        <p:nvPicPr>
          <p:cNvPr id="23" name="Image 13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467600" y="5105400"/>
            <a:ext cx="171450" cy="180975"/>
          </a:xfrm>
          <a:prstGeom prst="rect">
            <a:avLst/>
          </a:prstGeom>
        </p:spPr>
      </p:pic>
      <p:sp>
        <p:nvSpPr>
          <p:cNvPr id="24" name="Text 8"/>
          <p:cNvSpPr/>
          <p:nvPr/>
        </p:nvSpPr>
        <p:spPr>
          <a:xfrm>
            <a:off x="7858125" y="5042446"/>
            <a:ext cx="32670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37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Review Low-Profit Products</a:t>
            </a:r>
            <a:endParaRPr lang="en-US" sz="1200" dirty="0"/>
          </a:p>
        </p:txBody>
      </p:sp>
      <p:sp>
        <p:nvSpPr>
          <p:cNvPr id="25" name="Text 9"/>
          <p:cNvSpPr/>
          <p:nvPr/>
        </p:nvSpPr>
        <p:spPr>
          <a:xfrm>
            <a:off x="7858125" y="5309146"/>
            <a:ext cx="32670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Analyze pricing strategy and discount structures.</a:t>
            </a:r>
            <a:endParaRPr lang="en-US" sz="900" dirty="0"/>
          </a:p>
        </p:txBody>
      </p:sp>
      <p:sp>
        <p:nvSpPr>
          <p:cNvPr id="26" name="Text 10"/>
          <p:cNvSpPr/>
          <p:nvPr/>
        </p:nvSpPr>
        <p:spPr>
          <a:xfrm>
            <a:off x="762000" y="6381750"/>
            <a:ext cx="33051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999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Superstore Sales Performance Report | 2019–2022</a:t>
            </a:r>
            <a:endParaRPr lang="en-US" sz="900" dirty="0"/>
          </a:p>
        </p:txBody>
      </p:sp>
      <p:sp>
        <p:nvSpPr>
          <p:cNvPr id="27" name="Text 11"/>
          <p:cNvSpPr/>
          <p:nvPr/>
        </p:nvSpPr>
        <p:spPr>
          <a:xfrm>
            <a:off x="11344275" y="6381750"/>
            <a:ext cx="857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999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900000">
            <a:off x="9525000" y="361950"/>
            <a:ext cx="2095500" cy="19812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2475" y="2447925"/>
            <a:ext cx="133350" cy="142875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2475" y="2952750"/>
            <a:ext cx="133350" cy="142875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2475" y="3448050"/>
            <a:ext cx="133350" cy="142875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91275" y="2447925"/>
            <a:ext cx="133350" cy="142875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91275" y="2952750"/>
            <a:ext cx="133350" cy="142875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2475" y="4105275"/>
            <a:ext cx="6267450" cy="2124075"/>
          </a:xfrm>
          <a:prstGeom prst="rect">
            <a:avLst/>
          </a:prstGeom>
        </p:spPr>
      </p:pic>
      <p:sp>
        <p:nvSpPr>
          <p:cNvPr id="11" name="Text 0"/>
          <p:cNvSpPr/>
          <p:nvPr/>
        </p:nvSpPr>
        <p:spPr>
          <a:xfrm>
            <a:off x="762000" y="762000"/>
            <a:ext cx="10668000" cy="12266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9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Points &amp;
Conclusion</a:t>
            </a:r>
            <a:endParaRPr lang="en-US" sz="3900" dirty="0"/>
          </a:p>
        </p:txBody>
      </p:sp>
      <p:sp>
        <p:nvSpPr>
          <p:cNvPr id="12" name="Text 1"/>
          <p:cNvSpPr/>
          <p:nvPr/>
        </p:nvSpPr>
        <p:spPr>
          <a:xfrm>
            <a:off x="1028700" y="2369641"/>
            <a:ext cx="2781300" cy="309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D37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Sales grew from 2019 to 2022</a:t>
            </a:r>
            <a:endParaRPr lang="en-US" sz="1400" dirty="0"/>
          </a:p>
        </p:txBody>
      </p:sp>
      <p:sp>
        <p:nvSpPr>
          <p:cNvPr id="13" name="Text 2"/>
          <p:cNvSpPr/>
          <p:nvPr/>
        </p:nvSpPr>
        <p:spPr>
          <a:xfrm>
            <a:off x="1028700" y="2869704"/>
            <a:ext cx="3238500" cy="309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D37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Technology has the highest sales</a:t>
            </a:r>
            <a:endParaRPr lang="en-US" sz="1400" dirty="0"/>
          </a:p>
        </p:txBody>
      </p:sp>
      <p:sp>
        <p:nvSpPr>
          <p:cNvPr id="14" name="Text 3"/>
          <p:cNvSpPr/>
          <p:nvPr/>
        </p:nvSpPr>
        <p:spPr>
          <a:xfrm>
            <a:off x="1028700" y="3369766"/>
            <a:ext cx="2609850" cy="309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D37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West has the highest profit</a:t>
            </a:r>
            <a:endParaRPr lang="en-US" sz="1400" dirty="0"/>
          </a:p>
        </p:txBody>
      </p:sp>
      <p:sp>
        <p:nvSpPr>
          <p:cNvPr id="15" name="Text 4"/>
          <p:cNvSpPr/>
          <p:nvPr/>
        </p:nvSpPr>
        <p:spPr>
          <a:xfrm>
            <a:off x="6667500" y="2369641"/>
            <a:ext cx="4067175" cy="309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D37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Consumer segment has the highest profit</a:t>
            </a:r>
            <a:endParaRPr lang="en-US" sz="1400" dirty="0"/>
          </a:p>
        </p:txBody>
      </p:sp>
      <p:sp>
        <p:nvSpPr>
          <p:cNvPr id="16" name="Text 5"/>
          <p:cNvSpPr/>
          <p:nvPr/>
        </p:nvSpPr>
        <p:spPr>
          <a:xfrm>
            <a:off x="6667500" y="2869704"/>
            <a:ext cx="476250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D37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Sales are focused on a small number of top products</a:t>
            </a:r>
            <a:endParaRPr lang="en-US" sz="1400" dirty="0"/>
          </a:p>
        </p:txBody>
      </p:sp>
      <p:sp>
        <p:nvSpPr>
          <p:cNvPr id="17" name="Text 6"/>
          <p:cNvSpPr/>
          <p:nvPr/>
        </p:nvSpPr>
        <p:spPr>
          <a:xfrm>
            <a:off x="1076325" y="4436269"/>
            <a:ext cx="554965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Conclusion</a:t>
            </a:r>
            <a:endParaRPr lang="en-US" sz="1400" dirty="0"/>
          </a:p>
        </p:txBody>
      </p:sp>
      <p:sp>
        <p:nvSpPr>
          <p:cNvPr id="18" name="Text 7"/>
          <p:cNvSpPr/>
          <p:nvPr/>
        </p:nvSpPr>
        <p:spPr>
          <a:xfrm>
            <a:off x="1076325" y="4817269"/>
            <a:ext cx="5549652" cy="10215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Keep investing in what works (Technology, West, Consumer) and improve weaker areas (Central, lower-profit segments/products).</a:t>
            </a:r>
            <a:endParaRPr lang="en-US" sz="1500" dirty="0"/>
          </a:p>
        </p:txBody>
      </p:sp>
      <p:pic>
        <p:nvPicPr>
          <p:cNvPr id="19" name="Image 9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58075" y="4381500"/>
            <a:ext cx="1066800" cy="390525"/>
          </a:xfrm>
          <a:prstGeom prst="rect">
            <a:avLst/>
          </a:prstGeom>
        </p:spPr>
      </p:pic>
      <p:sp>
        <p:nvSpPr>
          <p:cNvPr id="20" name="Text 8"/>
          <p:cNvSpPr/>
          <p:nvPr/>
        </p:nvSpPr>
        <p:spPr>
          <a:xfrm>
            <a:off x="7473702" y="4394597"/>
            <a:ext cx="103822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37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Next steps</a:t>
            </a:r>
            <a:endParaRPr lang="en-US" sz="1400" dirty="0"/>
          </a:p>
        </p:txBody>
      </p:sp>
      <p:pic>
        <p:nvPicPr>
          <p:cNvPr id="21" name="Image 10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58075" y="4991100"/>
            <a:ext cx="142875" cy="161925"/>
          </a:xfrm>
          <a:prstGeom prst="rect">
            <a:avLst/>
          </a:prstGeom>
        </p:spPr>
      </p:pic>
      <p:sp>
        <p:nvSpPr>
          <p:cNvPr id="22" name="Text 9"/>
          <p:cNvSpPr/>
          <p:nvPr/>
        </p:nvSpPr>
        <p:spPr>
          <a:xfrm>
            <a:off x="7702302" y="4947047"/>
            <a:ext cx="31051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Look deeper into why Central profit is low</a:t>
            </a:r>
            <a:endParaRPr lang="en-US" sz="1100" dirty="0"/>
          </a:p>
        </p:txBody>
      </p:sp>
      <p:pic>
        <p:nvPicPr>
          <p:cNvPr id="23" name="Image 11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58075" y="5353050"/>
            <a:ext cx="142875" cy="161925"/>
          </a:xfrm>
          <a:prstGeom prst="rect">
            <a:avLst/>
          </a:prstGeom>
        </p:spPr>
      </p:pic>
      <p:sp>
        <p:nvSpPr>
          <p:cNvPr id="24" name="Text 10"/>
          <p:cNvSpPr/>
          <p:nvPr/>
        </p:nvSpPr>
        <p:spPr>
          <a:xfrm>
            <a:off x="7702302" y="5308997"/>
            <a:ext cx="357187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Test new offers for Corporate and Home Office</a:t>
            </a:r>
            <a:endParaRPr lang="en-US" sz="1100" dirty="0"/>
          </a:p>
        </p:txBody>
      </p:sp>
      <p:pic>
        <p:nvPicPr>
          <p:cNvPr id="25" name="Image 12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58075" y="5715000"/>
            <a:ext cx="142875" cy="161925"/>
          </a:xfrm>
          <a:prstGeom prst="rect">
            <a:avLst/>
          </a:prstGeom>
        </p:spPr>
      </p:pic>
      <p:sp>
        <p:nvSpPr>
          <p:cNvPr id="26" name="Text 11"/>
          <p:cNvSpPr/>
          <p:nvPr/>
        </p:nvSpPr>
        <p:spPr>
          <a:xfrm>
            <a:off x="7702302" y="5670947"/>
            <a:ext cx="360997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Review products using Sales, Profit, and Quantity</a:t>
            </a:r>
            <a:endParaRPr lang="en-US" sz="1100" dirty="0"/>
          </a:p>
        </p:txBody>
      </p:sp>
      <p:sp>
        <p:nvSpPr>
          <p:cNvPr id="27" name="Text 12"/>
          <p:cNvSpPr/>
          <p:nvPr/>
        </p:nvSpPr>
        <p:spPr>
          <a:xfrm>
            <a:off x="762000" y="6381750"/>
            <a:ext cx="33051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999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Superstore Sales Performance Report | 2019–2022</a:t>
            </a:r>
            <a:endParaRPr lang="en-US" sz="900" dirty="0"/>
          </a:p>
        </p:txBody>
      </p:sp>
      <p:sp>
        <p:nvSpPr>
          <p:cNvPr id="28" name="Text 13"/>
          <p:cNvSpPr/>
          <p:nvPr/>
        </p:nvSpPr>
        <p:spPr>
          <a:xfrm>
            <a:off x="11306175" y="6381750"/>
            <a:ext cx="1238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999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-900000">
            <a:off x="0" y="28575"/>
            <a:ext cx="4819650" cy="25527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199999">
            <a:off x="6924675" y="1266825"/>
            <a:ext cx="5267325" cy="348615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599999">
            <a:off x="895350" y="5057775"/>
            <a:ext cx="4876800" cy="1743075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2243138" y="2095500"/>
            <a:ext cx="7705725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4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Thank You</a:t>
            </a:r>
            <a:endParaRPr lang="en-US" sz="11400" dirty="0"/>
          </a:p>
        </p:txBody>
      </p:sp>
      <p:sp>
        <p:nvSpPr>
          <p:cNvPr id="8" name="Text 1"/>
          <p:cNvSpPr/>
          <p:nvPr/>
        </p:nvSpPr>
        <p:spPr>
          <a:xfrm>
            <a:off x="2243138" y="4076700"/>
            <a:ext cx="770572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2D37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Questions?</a:t>
            </a:r>
            <a:endParaRPr lang="en-US" sz="3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524</Words>
  <Application>Microsoft Office PowerPoint</Application>
  <PresentationFormat>Widescreen</PresentationFormat>
  <Paragraphs>137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dokie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>PptxGenJS Presentation</dc:subject>
  <dc:creator>dokie</dc:creator>
  <cp:lastModifiedBy>Mohamed Hassan</cp:lastModifiedBy>
  <cp:revision>2</cp:revision>
  <dcterms:created xsi:type="dcterms:W3CDTF">2026-03-09T07:31:43Z</dcterms:created>
  <dcterms:modified xsi:type="dcterms:W3CDTF">2026-03-09T08:06:28Z</dcterms:modified>
</cp:coreProperties>
</file>